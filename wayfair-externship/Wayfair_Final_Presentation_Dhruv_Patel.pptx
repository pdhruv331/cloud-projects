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4"/>
    <p:sldMasterId id="214748367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Roboto"/>
      <p:regular r:id="rId16"/>
      <p:bold r:id="rId17"/>
      <p:italic r:id="rId18"/>
      <p:boldItalic r:id="rId19"/>
    </p:embeddedFont>
    <p:embeddedFont>
      <p:font typeface="Inter"/>
      <p:regular r:id="rId20"/>
      <p:bold r:id="rId21"/>
      <p:italic r:id="rId22"/>
      <p:boldItalic r:id="rId23"/>
    </p:embeddedFont>
    <p:embeddedFont>
      <p:font typeface="DM Serif Text"/>
      <p:regular r:id="rId24"/>
      <p: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regular.fntdata"/><Relationship Id="rId22" Type="http://schemas.openxmlformats.org/officeDocument/2006/relationships/font" Target="fonts/Inter-italic.fntdata"/><Relationship Id="rId21" Type="http://schemas.openxmlformats.org/officeDocument/2006/relationships/font" Target="fonts/Inter-bold.fntdata"/><Relationship Id="rId24" Type="http://schemas.openxmlformats.org/officeDocument/2006/relationships/font" Target="fonts/DMSerifText-regular.fntdata"/><Relationship Id="rId23" Type="http://schemas.openxmlformats.org/officeDocument/2006/relationships/font" Target="fonts/Inter-bold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schemas.openxmlformats.org/officeDocument/2006/relationships/font" Target="fonts/DMSerifText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19" Type="http://schemas.openxmlformats.org/officeDocument/2006/relationships/font" Target="fonts/Roboto-boldItalic.fntdata"/><Relationship Id="rId18" Type="http://schemas.openxmlformats.org/officeDocument/2006/relationships/font" Target="fonts/Roboto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f4642279d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9f4642279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9f81d736c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9f81d736c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f81d736c5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9f81d736c5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9f81d736c5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9f81d736c5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9f795ecb5b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9f795ecb5b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9f795ecb5b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9f795ecb5b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9f795ecb5b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9f795ecb5b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9f81d736c5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9f81d736c5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9f81d736c5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9f81d736c5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- Black background">
  <p:cSld name="TITLE_1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406400" y="1981875"/>
            <a:ext cx="8466900" cy="42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406400" y="2678850"/>
            <a:ext cx="3569700" cy="1789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57" name="Google Shape;57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6400" y="391075"/>
            <a:ext cx="673598" cy="15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- White background">
  <p:cSld name="TITLE_1_1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6400" y="391075"/>
            <a:ext cx="705451" cy="1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5"/>
          <p:cNvSpPr txBox="1"/>
          <p:nvPr>
            <p:ph type="title"/>
          </p:nvPr>
        </p:nvSpPr>
        <p:spPr>
          <a:xfrm>
            <a:off x="406400" y="1981875"/>
            <a:ext cx="8466900" cy="42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61" name="Google Shape;61;p15"/>
          <p:cNvSpPr txBox="1"/>
          <p:nvPr>
            <p:ph idx="1" type="body"/>
          </p:nvPr>
        </p:nvSpPr>
        <p:spPr>
          <a:xfrm>
            <a:off x="406400" y="2678850"/>
            <a:ext cx="3569700" cy="1789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>
                <a:latin typeface="Inter"/>
                <a:ea typeface="Inter"/>
                <a:cs typeface="Inter"/>
                <a:sym typeface="Inter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2" name="Google Shape;62;p15"/>
          <p:cNvSpPr txBox="1"/>
          <p:nvPr/>
        </p:nvSpPr>
        <p:spPr>
          <a:xfrm>
            <a:off x="295775" y="4468650"/>
            <a:ext cx="926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/>
          <p:nvPr>
            <p:ph type="title"/>
          </p:nvPr>
        </p:nvSpPr>
        <p:spPr>
          <a:xfrm>
            <a:off x="311700" y="445025"/>
            <a:ext cx="8228400" cy="3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2" type="sldNum"/>
          </p:nvPr>
        </p:nvSpPr>
        <p:spPr>
          <a:xfrm>
            <a:off x="311709" y="4733215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" name="Google Shape;66;p16"/>
          <p:cNvSpPr txBox="1"/>
          <p:nvPr>
            <p:ph idx="1" type="body"/>
          </p:nvPr>
        </p:nvSpPr>
        <p:spPr>
          <a:xfrm>
            <a:off x="311700" y="929550"/>
            <a:ext cx="3867900" cy="1629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pic>
        <p:nvPicPr>
          <p:cNvPr id="67" name="Google Shape;67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08575" y="4868275"/>
            <a:ext cx="532402" cy="12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Green section">
  <p:cSld name="CUSTOM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/>
          <p:nvPr/>
        </p:nvSpPr>
        <p:spPr>
          <a:xfrm>
            <a:off x="0" y="0"/>
            <a:ext cx="4592700" cy="5143500"/>
          </a:xfrm>
          <a:prstGeom prst="rect">
            <a:avLst/>
          </a:prstGeom>
          <a:solidFill>
            <a:srgbClr val="ECFD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" name="Google Shape;70;p17"/>
          <p:cNvSpPr txBox="1"/>
          <p:nvPr>
            <p:ph type="title"/>
          </p:nvPr>
        </p:nvSpPr>
        <p:spPr>
          <a:xfrm>
            <a:off x="311700" y="445025"/>
            <a:ext cx="3929700" cy="3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311709" y="4733215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" name="Google Shape;72;p17"/>
          <p:cNvSpPr txBox="1"/>
          <p:nvPr>
            <p:ph idx="1" type="body"/>
          </p:nvPr>
        </p:nvSpPr>
        <p:spPr>
          <a:xfrm>
            <a:off x="311700" y="929550"/>
            <a:ext cx="3929700" cy="1629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pic>
        <p:nvPicPr>
          <p:cNvPr id="73" name="Google Shape;73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08575" y="4868275"/>
            <a:ext cx="532402" cy="12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Blue section">
  <p:cSld name="CUSTOM_1_1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/>
          <p:nvPr/>
        </p:nvSpPr>
        <p:spPr>
          <a:xfrm>
            <a:off x="0" y="0"/>
            <a:ext cx="4592700" cy="5143500"/>
          </a:xfrm>
          <a:prstGeom prst="rect">
            <a:avLst/>
          </a:prstGeom>
          <a:solidFill>
            <a:srgbClr val="DFE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" name="Google Shape;76;p18"/>
          <p:cNvSpPr txBox="1"/>
          <p:nvPr>
            <p:ph type="title"/>
          </p:nvPr>
        </p:nvSpPr>
        <p:spPr>
          <a:xfrm>
            <a:off x="311700" y="445025"/>
            <a:ext cx="3929700" cy="3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" type="body"/>
          </p:nvPr>
        </p:nvSpPr>
        <p:spPr>
          <a:xfrm>
            <a:off x="311700" y="929550"/>
            <a:ext cx="3929700" cy="1629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2" type="sldNum"/>
          </p:nvPr>
        </p:nvSpPr>
        <p:spPr>
          <a:xfrm>
            <a:off x="311709" y="4733215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9" name="Google Shape;79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08575" y="4868275"/>
            <a:ext cx="532402" cy="12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Purple section">
  <p:cSld name="CUSTOM_1_1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/>
          <p:nvPr/>
        </p:nvSpPr>
        <p:spPr>
          <a:xfrm>
            <a:off x="0" y="0"/>
            <a:ext cx="4592700" cy="5143500"/>
          </a:xfrm>
          <a:prstGeom prst="rect">
            <a:avLst/>
          </a:prstGeom>
          <a:solidFill>
            <a:srgbClr val="E5E0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2" name="Google Shape;82;p19"/>
          <p:cNvSpPr txBox="1"/>
          <p:nvPr>
            <p:ph type="title"/>
          </p:nvPr>
        </p:nvSpPr>
        <p:spPr>
          <a:xfrm>
            <a:off x="311700" y="445025"/>
            <a:ext cx="3929700" cy="3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" type="body"/>
          </p:nvPr>
        </p:nvSpPr>
        <p:spPr>
          <a:xfrm>
            <a:off x="311700" y="929550"/>
            <a:ext cx="3929700" cy="1629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4" name="Google Shape;84;p19"/>
          <p:cNvSpPr txBox="1"/>
          <p:nvPr>
            <p:ph idx="12" type="sldNum"/>
          </p:nvPr>
        </p:nvSpPr>
        <p:spPr>
          <a:xfrm>
            <a:off x="311709" y="4733215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5" name="Google Shape;8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08575" y="4868275"/>
            <a:ext cx="532402" cy="12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Red section">
  <p:cSld name="CUSTOM_1_1_1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0"/>
          <p:cNvSpPr/>
          <p:nvPr/>
        </p:nvSpPr>
        <p:spPr>
          <a:xfrm>
            <a:off x="0" y="0"/>
            <a:ext cx="4592700" cy="5143500"/>
          </a:xfrm>
          <a:prstGeom prst="rect">
            <a:avLst/>
          </a:prstGeom>
          <a:solidFill>
            <a:srgbClr val="FFEF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" name="Google Shape;88;p20"/>
          <p:cNvSpPr txBox="1"/>
          <p:nvPr>
            <p:ph type="title"/>
          </p:nvPr>
        </p:nvSpPr>
        <p:spPr>
          <a:xfrm>
            <a:off x="311700" y="445025"/>
            <a:ext cx="3929700" cy="3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20"/>
          <p:cNvSpPr txBox="1"/>
          <p:nvPr>
            <p:ph idx="1" type="body"/>
          </p:nvPr>
        </p:nvSpPr>
        <p:spPr>
          <a:xfrm>
            <a:off x="311700" y="929550"/>
            <a:ext cx="3929700" cy="1629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0" name="Google Shape;90;p20"/>
          <p:cNvSpPr txBox="1"/>
          <p:nvPr>
            <p:ph idx="12" type="sldNum"/>
          </p:nvPr>
        </p:nvSpPr>
        <p:spPr>
          <a:xfrm>
            <a:off x="311709" y="4733215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1" name="Google Shape;91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08575" y="4868275"/>
            <a:ext cx="532402" cy="12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Orange section">
  <p:cSld name="CUSTOM_1_1_1_1_1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/>
          <p:nvPr/>
        </p:nvSpPr>
        <p:spPr>
          <a:xfrm>
            <a:off x="0" y="0"/>
            <a:ext cx="4592700" cy="5143500"/>
          </a:xfrm>
          <a:prstGeom prst="rect">
            <a:avLst/>
          </a:prstGeom>
          <a:solidFill>
            <a:srgbClr val="FFF3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" name="Google Shape;94;p21"/>
          <p:cNvSpPr txBox="1"/>
          <p:nvPr>
            <p:ph type="title"/>
          </p:nvPr>
        </p:nvSpPr>
        <p:spPr>
          <a:xfrm>
            <a:off x="311700" y="445025"/>
            <a:ext cx="3929700" cy="3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5" name="Google Shape;95;p21"/>
          <p:cNvSpPr txBox="1"/>
          <p:nvPr>
            <p:ph idx="1" type="body"/>
          </p:nvPr>
        </p:nvSpPr>
        <p:spPr>
          <a:xfrm>
            <a:off x="311700" y="929550"/>
            <a:ext cx="3929700" cy="1629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6" name="Google Shape;96;p21"/>
          <p:cNvSpPr txBox="1"/>
          <p:nvPr>
            <p:ph idx="12" type="sldNum"/>
          </p:nvPr>
        </p:nvSpPr>
        <p:spPr>
          <a:xfrm>
            <a:off x="311709" y="4733215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7" name="Google Shape;97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08575" y="4868275"/>
            <a:ext cx="532402" cy="12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Black section">
  <p:cSld name="CUSTOM_1_1_1_1_1_1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/>
          <p:nvPr/>
        </p:nvSpPr>
        <p:spPr>
          <a:xfrm>
            <a:off x="0" y="0"/>
            <a:ext cx="45927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" name="Google Shape;100;p22"/>
          <p:cNvSpPr txBox="1"/>
          <p:nvPr>
            <p:ph type="title"/>
          </p:nvPr>
        </p:nvSpPr>
        <p:spPr>
          <a:xfrm>
            <a:off x="311700" y="445025"/>
            <a:ext cx="3929700" cy="3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1" name="Google Shape;101;p22"/>
          <p:cNvSpPr txBox="1"/>
          <p:nvPr>
            <p:ph idx="1" type="body"/>
          </p:nvPr>
        </p:nvSpPr>
        <p:spPr>
          <a:xfrm>
            <a:off x="311700" y="929550"/>
            <a:ext cx="3929700" cy="1629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2" name="Google Shape;102;p22"/>
          <p:cNvSpPr txBox="1"/>
          <p:nvPr>
            <p:ph idx="12" type="sldNum"/>
          </p:nvPr>
        </p:nvSpPr>
        <p:spPr>
          <a:xfrm>
            <a:off x="311709" y="4733215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3" name="Google Shape;103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08575" y="4868275"/>
            <a:ext cx="532402" cy="12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3"/>
          <p:cNvSpPr txBox="1"/>
          <p:nvPr>
            <p:ph idx="12" type="sldNum"/>
          </p:nvPr>
        </p:nvSpPr>
        <p:spPr>
          <a:xfrm>
            <a:off x="311709" y="4733215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6" name="Google Shape;106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08575" y="4868275"/>
            <a:ext cx="532402" cy="12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2">
  <p:cSld name="TITLE_2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9" name="Google Shape;109;p2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0" name="Google Shape;110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5"/>
          <p:cNvSpPr txBox="1"/>
          <p:nvPr>
            <p:ph type="title"/>
          </p:nvPr>
        </p:nvSpPr>
        <p:spPr>
          <a:xfrm>
            <a:off x="221456" y="273844"/>
            <a:ext cx="8622300" cy="5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1F44"/>
              </a:buClr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1F4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1F4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1F4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1F4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1F4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1F4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1F4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1F44"/>
              </a:buClr>
              <a:buSzPts val="1400"/>
              <a:buNone/>
              <a:defRPr/>
            </a:lvl9pPr>
          </a:lstStyle>
          <a:p/>
        </p:txBody>
      </p:sp>
      <p:sp>
        <p:nvSpPr>
          <p:cNvPr id="113" name="Google Shape;113;p25"/>
          <p:cNvSpPr txBox="1"/>
          <p:nvPr>
            <p:ph idx="1" type="body"/>
          </p:nvPr>
        </p:nvSpPr>
        <p:spPr>
          <a:xfrm>
            <a:off x="221456" y="1012031"/>
            <a:ext cx="8622300" cy="36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5"/>
          <p:cNvSpPr txBox="1"/>
          <p:nvPr>
            <p:ph idx="12" type="sldNum"/>
          </p:nvPr>
        </p:nvSpPr>
        <p:spPr>
          <a:xfrm>
            <a:off x="8591323" y="4854418"/>
            <a:ext cx="205200" cy="2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Roboto"/>
              <a:buNone/>
              <a:defRPr sz="900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Roboto"/>
              <a:buNone/>
              <a:defRPr sz="900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Roboto"/>
              <a:buNone/>
              <a:defRPr sz="900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Roboto"/>
              <a:buNone/>
              <a:defRPr sz="900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Roboto"/>
              <a:buNone/>
              <a:defRPr sz="900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Roboto"/>
              <a:buNone/>
              <a:defRPr sz="900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Roboto"/>
              <a:buNone/>
              <a:defRPr sz="900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Roboto"/>
              <a:buNone/>
              <a:defRPr sz="900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Roboto"/>
              <a:buNone/>
              <a:defRPr sz="900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3">
  <p:cSld name="TITLE_3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7" name="Google Shape;117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8" name="Google Shape;11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2284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DM Serif Text"/>
              <a:buNone/>
              <a:defRPr sz="21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096350"/>
            <a:ext cx="8520600" cy="16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311709" y="4749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Relationship Id="rIdCover" Type="http://schemas.openxmlformats.org/officeDocument/2006/relationships/image" Target="../media/cover_moodboard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Thanks" Type="http://schemas.openxmlformats.org/officeDocument/2006/relationships/image" Target="../media/thanks_moodboard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7"/>
          <p:cNvSpPr txBox="1"/>
          <p:nvPr/>
        </p:nvSpPr>
        <p:spPr>
          <a:xfrm>
            <a:off x="208600" y="3051639"/>
            <a:ext cx="5110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latin typeface="DM Serif Text"/>
                <a:ea typeface="DM Serif Text"/>
                <a:cs typeface="DM Serif Text"/>
                <a:sym typeface="DM Serif Text"/>
              </a:rPr>
              <a:t xml:space="preserve">Name: </a:t>
            </a:r>
            <a:r>
              <a:rPr lang="en" sz="1800" b="0">
                <a:latin typeface="DM Serif Text"/>
                <a:ea typeface="DM Serif Text"/>
                <a:cs typeface="DM Serif Text"/>
                <a:sym typeface="DM Serif Text"/>
              </a:rPr>
              <a:t>Dhruv Patel</a:t>
            </a:r>
            <a:endParaRPr sz="1800">
              <a:latin typeface="DM Serif Text"/>
              <a:ea typeface="DM Serif Text"/>
              <a:cs typeface="DM Serif Text"/>
              <a:sym typeface="DM Serif Tex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latin typeface="DM Serif Text"/>
                <a:ea typeface="DM Serif Text"/>
                <a:cs typeface="DM Serif Text"/>
                <a:sym typeface="DM Serif Text"/>
              </a:rPr>
              <a:t xml:space="preserve">Role: </a:t>
            </a:r>
            <a:r>
              <a:rPr lang="en" sz="1800" b="0">
                <a:latin typeface="DM Serif Text"/>
                <a:ea typeface="DM Serif Text"/>
                <a:cs typeface="DM Serif Text"/>
                <a:sym typeface="DM Serif Text"/>
              </a:rPr>
              <a:t xml:space="preserve">AI Agent Engineering Consultant</a:t>
            </a:r>
            <a:endParaRPr sz="1800">
              <a:latin typeface="DM Serif Text"/>
              <a:ea typeface="DM Serif Text"/>
              <a:cs typeface="DM Serif Text"/>
              <a:sym typeface="DM Serif Tex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latin typeface="DM Serif Text"/>
                <a:ea typeface="DM Serif Text"/>
                <a:cs typeface="DM Serif Text"/>
                <a:sym typeface="DM Serif Text"/>
              </a:rPr>
              <a:t xml:space="preserve">Email Id: </a:t>
            </a:r>
            <a:r>
              <a:rPr lang="en" sz="1800" b="0">
                <a:latin typeface="DM Serif Text"/>
                <a:ea typeface="DM Serif Text"/>
                <a:cs typeface="DM Serif Text"/>
                <a:sym typeface="DM Serif Text"/>
              </a:rPr>
              <a:t>pdhruv331@gmail.com</a:t>
            </a:r>
            <a:endParaRPr sz="1800">
              <a:latin typeface="DM Serif Text"/>
              <a:ea typeface="DM Serif Text"/>
              <a:cs typeface="DM Serif Text"/>
              <a:sym typeface="DM Serif Text"/>
            </a:endParaRPr>
          </a:p>
        </p:txBody>
      </p:sp>
      <p:sp>
        <p:nvSpPr>
          <p:cNvPr id="124" name="Google Shape;124;p27"/>
          <p:cNvSpPr/>
          <p:nvPr/>
        </p:nvSpPr>
        <p:spPr>
          <a:xfrm>
            <a:off x="5131375" y="490900"/>
            <a:ext cx="3503700" cy="4042800"/>
          </a:xfrm>
          <a:prstGeom prst="rect">
            <a:avLst/>
          </a:prstGeom>
          <a:blipFill>
            <a:blip r:embed="rIdCover"/>
            <a:stretch>
              <a:fillRect/>
            </a:stretch>
          </a:blip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ter"/>
                <a:ea typeface="Inter"/>
                <a:cs typeface="Inter"/>
                <a:sym typeface="Inter"/>
              </a:rP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5" name="Google Shape;125;p27"/>
          <p:cNvSpPr txBox="1"/>
          <p:nvPr>
            <p:ph idx="4294967295" type="title"/>
          </p:nvPr>
        </p:nvSpPr>
        <p:spPr>
          <a:xfrm>
            <a:off x="208600" y="1270050"/>
            <a:ext cx="4815300" cy="147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 xml:space="preserve">Wayfair Rugs Market Intelligence: </a:t>
            </a:r>
            <a:r>
              <a:rPr lang="en" sz="3200">
                <a:solidFill>
                  <a:srgbClr val="3E1FBC"/>
                </a:solidFill>
              </a:rPr>
              <a:t>AI Agent System</a:t>
            </a:r>
            <a:endParaRPr sz="3200">
              <a:solidFill>
                <a:srgbClr val="3E1FBC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8"/>
          <p:cNvSpPr txBox="1"/>
          <p:nvPr>
            <p:ph idx="4294967295" type="title"/>
          </p:nvPr>
        </p:nvSpPr>
        <p:spPr>
          <a:xfrm>
            <a:off x="540300" y="445025"/>
            <a:ext cx="7204500" cy="3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7A657"/>
                </a:solidFill>
              </a:rPr>
              <a:t>Executive Summary</a:t>
            </a:r>
            <a:endParaRPr>
              <a:solidFill>
                <a:srgbClr val="07A657"/>
              </a:solidFill>
            </a:endParaRPr>
          </a:p>
        </p:txBody>
      </p:sp>
      <p:sp>
        <p:nvSpPr>
          <p:cNvPr id="131" name="Google Shape;131;p28"/>
          <p:cNvSpPr txBox="1"/>
          <p:nvPr/>
        </p:nvSpPr>
        <p:spPr>
          <a:xfrm>
            <a:off x="464101" y="844325"/>
            <a:ext cx="766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Overview of Market Intelligence Agents</a:t>
            </a:r>
            <a:endParaRPr i="1"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2" name="Google Shape;132;p28"/>
          <p:cNvSpPr txBox="1"/>
          <p:nvPr/>
        </p:nvSpPr>
        <p:spPr>
          <a:xfrm>
            <a:off x="540300" y="1410125"/>
            <a:ext cx="3990300" cy="38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🎯</a:t>
            </a: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Objective: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Give Wayfair’s Rugs category team a repeatable, evidence-based way to spot emerging trends, benchmark Amazon and Walmart, and turn both into on-brand content and next actions.</a:t>
            </a:r>
            <a:endParaRPr sz="11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🧠My Solution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Built 5 connected AI agents in n8n (moodboards, trends, competitors, content and dashboard) that feed one Market Intelligence Dashboard, running entirely on free-tier models.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⚙️ Core Outputs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buNone/>
            </a:pPr>
            <a:r>
              <a:rPr b="1" lang="en" sz="11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✓ Trend Discovery Agent: Sample Output Link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buNone/>
            </a:pPr>
            <a:r>
              <a:rPr b="1" lang="en" sz="11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✓ Competitor Monitoring Agent: Sample Output Link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buNone/>
            </a:pPr>
            <a:r>
              <a:rPr b="1" lang="en" sz="11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✓ AI Insights &amp; Content Agent: Sample Output Link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buNone/>
            </a:pPr>
            <a:r>
              <a:rPr b="1" lang="en" sz="11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✓ Integrated Dashboard: Sample Output Link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14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33" name="Google Shape;133;p28"/>
          <p:cNvCxnSpPr/>
          <p:nvPr/>
        </p:nvCxnSpPr>
        <p:spPr>
          <a:xfrm>
            <a:off x="4754775" y="1289825"/>
            <a:ext cx="23100" cy="3559800"/>
          </a:xfrm>
          <a:prstGeom prst="straightConnector1">
            <a:avLst/>
          </a:prstGeom>
          <a:noFill/>
          <a:ln cap="flat" cmpd="sng" w="9525">
            <a:solidFill>
              <a:srgbClr val="575757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34" name="Google Shape;134;p28"/>
          <p:cNvSpPr txBox="1"/>
          <p:nvPr/>
        </p:nvSpPr>
        <p:spPr>
          <a:xfrm>
            <a:off x="4871400" y="1410125"/>
            <a:ext cx="3990300" cy="23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🔍 Key Insights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 xml:space="preserve">Price gap: </a:t>
            </a:r>
            <a:r>
              <a:rPr lang="en" sz="1100" b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Wayfair avg. $138.99 vs. $63.64 (Amazon) and $59.27 (Walmart); the $150–$250 tier is thin.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 xml:space="preserve">Style shift: </a:t>
            </a:r>
            <a:r>
              <a:rPr lang="en" sz="1100" b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textured, natural-fiber rugs lead; 8×10 ft in 7 of 10 sampled listings.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 xml:space="preserve">Trust edge: </a:t>
            </a:r>
            <a:r>
              <a:rPr lang="en" sz="1100" b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4.66 avg. rating vs. 4.62 Amazon, 4.46 Walmart.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14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5" name="Google Shape;135;p28"/>
          <p:cNvSpPr txBox="1"/>
          <p:nvPr/>
        </p:nvSpPr>
        <p:spPr>
          <a:xfrm>
            <a:off x="4871400" y="2975400"/>
            <a:ext cx="3990300" cy="1824600"/>
          </a:xfrm>
          <a:prstGeom prst="rect">
            <a:avLst/>
          </a:prstGeom>
          <a:solidFill>
            <a:srgbClr val="E5E0FA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🧠Future Improvements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Connect Wayfair’s SKU sales and search data, run the agents weekly, and keep every run so the dashboard shows which trends and competitor prices are rising or fading.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9"/>
          <p:cNvSpPr/>
          <p:nvPr/>
        </p:nvSpPr>
        <p:spPr>
          <a:xfrm>
            <a:off x="5610600" y="3651050"/>
            <a:ext cx="3000000" cy="1124400"/>
          </a:xfrm>
          <a:prstGeom prst="roundRect">
            <a:avLst>
              <a:gd fmla="val 12090" name="adj"/>
            </a:avLst>
          </a:prstGeom>
          <a:solidFill>
            <a:srgbClr val="ECFE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20272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" name="Google Shape;141;p29"/>
          <p:cNvSpPr txBox="1"/>
          <p:nvPr>
            <p:ph idx="4294967295" type="title"/>
          </p:nvPr>
        </p:nvSpPr>
        <p:spPr>
          <a:xfrm>
            <a:off x="540300" y="445025"/>
            <a:ext cx="7204500" cy="3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7A657"/>
                </a:solidFill>
              </a:rPr>
              <a:t>Agent 1: Moodboard Generator</a:t>
            </a:r>
            <a:endParaRPr>
              <a:solidFill>
                <a:srgbClr val="07A657"/>
              </a:solidFill>
            </a:endParaRPr>
          </a:p>
        </p:txBody>
      </p:sp>
      <p:sp>
        <p:nvSpPr>
          <p:cNvPr id="142" name="Google Shape;142;p29"/>
          <p:cNvSpPr txBox="1"/>
          <p:nvPr/>
        </p:nvSpPr>
        <p:spPr>
          <a:xfrm>
            <a:off x="464101" y="844325"/>
            <a:ext cx="7660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From Trend Micro-Segment → AI-Generated Room Moodboard</a:t>
            </a:r>
            <a:endParaRPr i="1"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3" name="Google Shape;143;p29"/>
          <p:cNvSpPr txBox="1"/>
          <p:nvPr/>
        </p:nvSpPr>
        <p:spPr>
          <a:xfrm>
            <a:off x="540300" y="1345550"/>
            <a:ext cx="4970100" cy="35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🎯</a:t>
            </a: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Objective: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Turn each emerging style micro-segment into a room moodboard, so merchandising and creative teams can see a trend before they brief it.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🧠Input Prompt Example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“Farmhouse rustic jute rug, warm neutrals, sunlit living room” (written automatically for each micro-segment)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⚠️ Keep in Mind / Input Notes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 xml:space="preserve">Keep prompts </a:t>
            </a:r>
            <a:r>
              <a:rPr lang="en" sz="1100" b="1">
                <a:solidFill>
                  <a:schemeClr val="dk1"/>
                </a:solidFill>
              </a:rPr>
              <a:t>short and specific</a:t>
            </a:r>
            <a:r>
              <a:rPr lang="en" sz="1100">
                <a:solidFill>
                  <a:schemeClr val="dk1"/>
                </a:solidFill>
              </a:rPr>
              <a:t>: style, material, colour and room.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One image per micro-segment</a:t>
            </a:r>
            <a:r>
              <a:rPr lang="en" sz="1100">
                <a:solidFill>
                  <a:schemeClr val="dk1"/>
                </a:solidFill>
              </a:rPr>
              <a:t xml:space="preserve"> (2–3 per run) keeps the board focused.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Images are concept visuals, not Wayfair SKUs; label them as AI-generated when shared.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 xml:space="preserve">🧩 </a:t>
            </a:r>
            <a:r>
              <a:rPr lang="en" sz="1100" b="1">
                <a:solidFill>
                  <a:schemeClr val="dk1"/>
                </a:solidFill>
              </a:rPr>
              <a:t>Free-Tier Limitation:</a:t>
            </a:r>
            <a:r>
              <a:rPr lang="en" sz="1100">
                <a:solidFill>
                  <a:schemeClr val="dk1"/>
                </a:solidFill>
              </a:rPr>
              <a:t xml:space="preserve"> FLUX.1-schnell via Hugging Face’s free tier; </a:t>
            </a:r>
            <a:r>
              <a:rPr lang="en" sz="1100" b="1">
                <a:solidFill>
                  <a:schemeClr val="dk1"/>
                </a:solidFill>
              </a:rPr>
              <a:t>monthly credits cap image volume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b="1"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44" name="Google Shape;144;p29" title="Project 1 - Moodboard (1).png"/>
          <p:cNvPicPr preferRelativeResize="0"/>
          <p:nvPr/>
        </p:nvPicPr>
        <p:blipFill rotWithShape="1">
          <a:blip r:embed="rId3">
            <a:alphaModFix/>
          </a:blip>
          <a:stretch/>
        </p:blipFill>
        <p:spPr>
          <a:xfrm>
            <a:off x="5458200" y="1801368"/>
            <a:ext cx="3328801" cy="178308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9"/>
          <p:cNvSpPr txBox="1"/>
          <p:nvPr/>
        </p:nvSpPr>
        <p:spPr>
          <a:xfrm>
            <a:off x="5610600" y="3793513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📄View JSON Workflow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6" name="Google Shape;146;p29"/>
          <p:cNvSpPr txBox="1"/>
          <p:nvPr/>
        </p:nvSpPr>
        <p:spPr>
          <a:xfrm>
            <a:off x="5646525" y="422672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🖼️ View Sample Moodboard</a:t>
            </a:r>
            <a:endParaRPr b="1"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7" name="Google Shape;147;p29"/>
          <p:cNvSpPr txBox="1"/>
          <p:nvPr/>
        </p:nvSpPr>
        <p:spPr>
          <a:xfrm>
            <a:off x="5570325" y="134555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Output Example: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0"/>
          <p:cNvSpPr/>
          <p:nvPr/>
        </p:nvSpPr>
        <p:spPr>
          <a:xfrm>
            <a:off x="5687000" y="3637450"/>
            <a:ext cx="3000000" cy="1124400"/>
          </a:xfrm>
          <a:prstGeom prst="roundRect">
            <a:avLst>
              <a:gd fmla="val 12090" name="adj"/>
            </a:avLst>
          </a:prstGeom>
          <a:solidFill>
            <a:srgbClr val="ECFE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20272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3" name="Google Shape;153;p30"/>
          <p:cNvSpPr txBox="1"/>
          <p:nvPr>
            <p:ph idx="4294967295" type="title"/>
          </p:nvPr>
        </p:nvSpPr>
        <p:spPr>
          <a:xfrm>
            <a:off x="540300" y="445025"/>
            <a:ext cx="7204500" cy="3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7A657"/>
                </a:solidFill>
              </a:rPr>
              <a:t>Agent 2: Trend Discovery Agent</a:t>
            </a:r>
            <a:endParaRPr>
              <a:solidFill>
                <a:srgbClr val="07A657"/>
              </a:solidFill>
            </a:endParaRPr>
          </a:p>
        </p:txBody>
      </p:sp>
      <p:sp>
        <p:nvSpPr>
          <p:cNvPr id="154" name="Google Shape;154;p30"/>
          <p:cNvSpPr txBox="1"/>
          <p:nvPr/>
        </p:nvSpPr>
        <p:spPr>
          <a:xfrm>
            <a:off x="464101" y="844325"/>
            <a:ext cx="7660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From a Rug Category → Trend Report with Micro-Segments and Demand Signals</a:t>
            </a:r>
            <a:endParaRPr i="1"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5" name="Google Shape;155;p30"/>
          <p:cNvSpPr txBox="1"/>
          <p:nvPr/>
        </p:nvSpPr>
        <p:spPr>
          <a:xfrm>
            <a:off x="540300" y="1345550"/>
            <a:ext cx="4713900" cy="29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🎯Objective: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Gather product, social, blog and market data for a rug category and surface the 2–3 style micro-segments worth acting on, with the evidence behind each.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🧠Input Prompt Example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A chat message naming the category, with an optional focus line.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Sample Input Prompt: “area rugs” + “focus: jute”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⚠️ Keep in Mind / Input Notes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Each run samples 10 Amazon listings, 8 Instagram posts, 5 Pinterest pins and 3 blogs, so read counts such as “7 of 10 listings” as directional signals, not market share. About 10 minutes per run.</a:t>
            </a:r>
            <a:endParaRPr b="1"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6" name="Google Shape;156;p30"/>
          <p:cNvSpPr txBox="1"/>
          <p:nvPr/>
        </p:nvSpPr>
        <p:spPr>
          <a:xfrm>
            <a:off x="5991600" y="3793513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📄View JSON Workflow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7" name="Google Shape;157;p30"/>
          <p:cNvSpPr txBox="1"/>
          <p:nvPr/>
        </p:nvSpPr>
        <p:spPr>
          <a:xfrm>
            <a:off x="6027525" y="422672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🖼️ View Sample Output</a:t>
            </a:r>
            <a:endParaRPr b="1"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8" name="Google Shape;158;p30"/>
          <p:cNvSpPr txBox="1"/>
          <p:nvPr/>
        </p:nvSpPr>
        <p:spPr>
          <a:xfrm>
            <a:off x="5687000" y="1274525"/>
            <a:ext cx="3000000" cy="2239500"/>
          </a:xfrm>
          <a:prstGeom prst="rect">
            <a:avLst/>
          </a:prstGeom>
          <a:solidFill>
            <a:srgbClr val="E5E0FA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💡 Improvements / Expansion Opportunities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Add Wayfair’s catalog, search and sales data; widen the sample to hundreds of listings; run weekly and keep history so segments can be tracked as rising, stable or fading.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59" name="Google Shape;159;p30"/>
          <p:cNvCxnSpPr/>
          <p:nvPr/>
        </p:nvCxnSpPr>
        <p:spPr>
          <a:xfrm>
            <a:off x="5426200" y="1274525"/>
            <a:ext cx="23100" cy="3559800"/>
          </a:xfrm>
          <a:prstGeom prst="straightConnector1">
            <a:avLst/>
          </a:prstGeom>
          <a:noFill/>
          <a:ln cap="flat" cmpd="sng" w="9525">
            <a:solidFill>
              <a:srgbClr val="575757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1"/>
          <p:cNvSpPr/>
          <p:nvPr/>
        </p:nvSpPr>
        <p:spPr>
          <a:xfrm>
            <a:off x="5687000" y="3637450"/>
            <a:ext cx="3000000" cy="1124400"/>
          </a:xfrm>
          <a:prstGeom prst="roundRect">
            <a:avLst>
              <a:gd fmla="val 12090" name="adj"/>
            </a:avLst>
          </a:prstGeom>
          <a:solidFill>
            <a:srgbClr val="ECFE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20272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5" name="Google Shape;165;p31"/>
          <p:cNvSpPr txBox="1"/>
          <p:nvPr>
            <p:ph idx="4294967295" type="title"/>
          </p:nvPr>
        </p:nvSpPr>
        <p:spPr>
          <a:xfrm>
            <a:off x="540300" y="445025"/>
            <a:ext cx="7204500" cy="3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7A657"/>
                </a:solidFill>
              </a:rPr>
              <a:t>Agent 3: Competitor Monitoring Agent</a:t>
            </a:r>
            <a:endParaRPr>
              <a:solidFill>
                <a:srgbClr val="07A657"/>
              </a:solidFill>
            </a:endParaRPr>
          </a:p>
        </p:txBody>
      </p:sp>
      <p:sp>
        <p:nvSpPr>
          <p:cNvPr id="166" name="Google Shape;166;p31"/>
          <p:cNvSpPr txBox="1"/>
          <p:nvPr/>
        </p:nvSpPr>
        <p:spPr>
          <a:xfrm>
            <a:off x="464101" y="844325"/>
            <a:ext cx="7660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From a Rug Category → Wayfair vs. Amazon vs. Walmart Benchmark</a:t>
            </a:r>
            <a:endParaRPr i="1"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7" name="Google Shape;167;p31"/>
          <p:cNvSpPr txBox="1"/>
          <p:nvPr/>
        </p:nvSpPr>
        <p:spPr>
          <a:xfrm>
            <a:off x="540300" y="1345550"/>
            <a:ext cx="4713900" cy="29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🎯Objective: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Benchmark Wayfair against Amazon and Walmart on price, assortment, ratings and discounting, then flag whitespace, quick wins and strategic plays for the category team.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🧠Input Prompt Example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A chat message naming the category; the agent pulls 10 listings per retailer.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Sample Input Prompt: “area rug”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⚠️ Keep in Mind / Input Notes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Prices, ratings and counts come straight from the listings; the AI agents interpret them. Review any AI-written percentage before acting. About 4 minutes per run.</a:t>
            </a:r>
            <a:endParaRPr b="1"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8" name="Google Shape;168;p31"/>
          <p:cNvSpPr txBox="1"/>
          <p:nvPr/>
        </p:nvSpPr>
        <p:spPr>
          <a:xfrm>
            <a:off x="5991600" y="3793513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📄View JSON Workflow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9" name="Google Shape;169;p31"/>
          <p:cNvSpPr txBox="1"/>
          <p:nvPr/>
        </p:nvSpPr>
        <p:spPr>
          <a:xfrm>
            <a:off x="6027525" y="422672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🖼️ View Sample Output</a:t>
            </a:r>
            <a:endParaRPr b="1"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" name="Google Shape;170;p31"/>
          <p:cNvSpPr txBox="1"/>
          <p:nvPr/>
        </p:nvSpPr>
        <p:spPr>
          <a:xfrm>
            <a:off x="5687000" y="1274525"/>
            <a:ext cx="3000000" cy="2239500"/>
          </a:xfrm>
          <a:prstGeom prst="rect">
            <a:avLst/>
          </a:prstGeom>
          <a:solidFill>
            <a:srgbClr val="E5E0FA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💡 Improvements / Expansion Opportunities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Track prices daily and keep history to catch price drops and launches as they happen; add Target and Home Depot; move supplier identification to a more reliable model.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71" name="Google Shape;171;p31"/>
          <p:cNvCxnSpPr/>
          <p:nvPr/>
        </p:nvCxnSpPr>
        <p:spPr>
          <a:xfrm>
            <a:off x="5426200" y="1274525"/>
            <a:ext cx="23100" cy="3559800"/>
          </a:xfrm>
          <a:prstGeom prst="straightConnector1">
            <a:avLst/>
          </a:prstGeom>
          <a:noFill/>
          <a:ln cap="flat" cmpd="sng" w="9525">
            <a:solidFill>
              <a:srgbClr val="575757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72" name="Google Shape;172;p31"/>
          <p:cNvSpPr/>
          <p:nvPr/>
        </p:nvSpPr>
        <p:spPr>
          <a:xfrm>
            <a:off x="9807575" y="3496750"/>
            <a:ext cx="1500900" cy="1500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2"/>
          <p:cNvSpPr/>
          <p:nvPr/>
        </p:nvSpPr>
        <p:spPr>
          <a:xfrm>
            <a:off x="5687000" y="3637450"/>
            <a:ext cx="3000000" cy="1124400"/>
          </a:xfrm>
          <a:prstGeom prst="roundRect">
            <a:avLst>
              <a:gd fmla="val 12090" name="adj"/>
            </a:avLst>
          </a:prstGeom>
          <a:solidFill>
            <a:srgbClr val="ECFE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20272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8" name="Google Shape;178;p32"/>
          <p:cNvSpPr txBox="1"/>
          <p:nvPr>
            <p:ph idx="4294967295" type="title"/>
          </p:nvPr>
        </p:nvSpPr>
        <p:spPr>
          <a:xfrm>
            <a:off x="540300" y="445025"/>
            <a:ext cx="7204500" cy="3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7A657"/>
                </a:solidFill>
              </a:rPr>
              <a:t>Agent 4: AI Insights &amp; Content Agent</a:t>
            </a:r>
            <a:endParaRPr>
              <a:solidFill>
                <a:srgbClr val="07A657"/>
              </a:solidFill>
            </a:endParaRPr>
          </a:p>
        </p:txBody>
      </p:sp>
      <p:sp>
        <p:nvSpPr>
          <p:cNvPr id="179" name="Google Shape;179;p32"/>
          <p:cNvSpPr txBox="1"/>
          <p:nvPr/>
        </p:nvSpPr>
        <p:spPr>
          <a:xfrm>
            <a:off x="464101" y="844325"/>
            <a:ext cx="7660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From Trend + Competitor Reports → On-Brand, Evidence-Based Content Plan</a:t>
            </a:r>
            <a:endParaRPr i="1"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" name="Google Shape;180;p32"/>
          <p:cNvSpPr txBox="1"/>
          <p:nvPr/>
        </p:nvSpPr>
        <p:spPr>
          <a:xfrm>
            <a:off x="540300" y="1345550"/>
            <a:ext cx="4713900" cy="29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🎯Objective: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Turn the trend and competitor findings into content a Wayfair marketer can use: buying-guide and blog ideas, platform-specific captions, campaigns, email subject lines and competitive angles.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🧠Input Prompt Example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Upload the two reports, then set the category, target audience and season.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Sample Input Prompt: “Area Rug · First-time renters · Fall cozy season”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⚠️ Keep in Mind / Input Notes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Written in Wayfair’s voice under strict evidence rules. A built-in Quality Check lists numbers not found in the source reports, banned AI phrases and past dates; review flagged items before publishing.</a:t>
            </a:r>
            <a:endParaRPr b="1"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1" name="Google Shape;181;p32"/>
          <p:cNvSpPr txBox="1"/>
          <p:nvPr/>
        </p:nvSpPr>
        <p:spPr>
          <a:xfrm>
            <a:off x="5991600" y="3793513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📄View JSON Workflow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2" name="Google Shape;182;p32"/>
          <p:cNvSpPr txBox="1"/>
          <p:nvPr/>
        </p:nvSpPr>
        <p:spPr>
          <a:xfrm>
            <a:off x="6027525" y="422672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🖼️ View Sample Output</a:t>
            </a:r>
            <a:endParaRPr b="1"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3" name="Google Shape;183;p32"/>
          <p:cNvSpPr txBox="1"/>
          <p:nvPr/>
        </p:nvSpPr>
        <p:spPr>
          <a:xfrm>
            <a:off x="5687000" y="1274525"/>
            <a:ext cx="3000000" cy="2239500"/>
          </a:xfrm>
          <a:prstGeom prst="rect">
            <a:avLst/>
          </a:prstGeom>
          <a:solidFill>
            <a:srgbClr val="E5E0FA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💡 Improvements / Expansion Opportunities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Add a second AI fact-check that verifies how each number is used, draft full emails and ad copy, and load Wayfair’s brand guidelines as reference.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84" name="Google Shape;184;p32"/>
          <p:cNvCxnSpPr/>
          <p:nvPr/>
        </p:nvCxnSpPr>
        <p:spPr>
          <a:xfrm>
            <a:off x="5426200" y="1274525"/>
            <a:ext cx="23100" cy="3559800"/>
          </a:xfrm>
          <a:prstGeom prst="straightConnector1">
            <a:avLst/>
          </a:prstGeom>
          <a:noFill/>
          <a:ln cap="flat" cmpd="sng" w="9525">
            <a:solidFill>
              <a:srgbClr val="575757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85" name="Google Shape;185;p32"/>
          <p:cNvSpPr/>
          <p:nvPr/>
        </p:nvSpPr>
        <p:spPr>
          <a:xfrm>
            <a:off x="9807575" y="3496750"/>
            <a:ext cx="1500900" cy="1500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3"/>
          <p:cNvSpPr/>
          <p:nvPr/>
        </p:nvSpPr>
        <p:spPr>
          <a:xfrm>
            <a:off x="5687000" y="3637450"/>
            <a:ext cx="3000000" cy="1124400"/>
          </a:xfrm>
          <a:prstGeom prst="roundRect">
            <a:avLst>
              <a:gd fmla="val 12090" name="adj"/>
            </a:avLst>
          </a:prstGeom>
          <a:solidFill>
            <a:srgbClr val="ECFE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20272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1" name="Google Shape;191;p33"/>
          <p:cNvSpPr txBox="1"/>
          <p:nvPr>
            <p:ph idx="4294967295" type="title"/>
          </p:nvPr>
        </p:nvSpPr>
        <p:spPr>
          <a:xfrm>
            <a:off x="540300" y="445025"/>
            <a:ext cx="7204500" cy="3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7A657"/>
                </a:solidFill>
              </a:rPr>
              <a:t>Market Intelligence Dashboard</a:t>
            </a:r>
            <a:endParaRPr>
              <a:solidFill>
                <a:srgbClr val="07A657"/>
              </a:solidFill>
            </a:endParaRPr>
          </a:p>
        </p:txBody>
      </p:sp>
      <p:sp>
        <p:nvSpPr>
          <p:cNvPr id="192" name="Google Shape;192;p33"/>
          <p:cNvSpPr txBox="1"/>
          <p:nvPr/>
        </p:nvSpPr>
        <p:spPr>
          <a:xfrm>
            <a:off x="464101" y="844325"/>
            <a:ext cx="7660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Bringing All Agents Together → One Decision View for Wayfair’s Rugs Team</a:t>
            </a:r>
            <a:endParaRPr i="1"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3" name="Google Shape;193;p33"/>
          <p:cNvSpPr txBox="1"/>
          <p:nvPr/>
        </p:nvSpPr>
        <p:spPr>
          <a:xfrm>
            <a:off x="540300" y="1345550"/>
            <a:ext cx="4713900" cy="26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🎯Objective: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Give the Rugs team one view of category health, trends, competitive position, whitespace, risks and next actions, combining the trend and competitor agents.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⚙️ How This Works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Upload the two reports → fetch the dashboard template → a code parser extracts each section (prices, segments, colours, gaps, opportunities, risks) → one downloadable HTML dashboard. No AI here, so every figure is copied exactly from the reports.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⚠️ </a:t>
            </a: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Keep in Mind / Implementation Notes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Built on a 30-product sample. Empty sections say “No data” rather than inventing content. I extended the provided parser so table-based attributes and Amazon discount data are no longer dropped.</a:t>
            </a:r>
            <a:endParaRPr b="1"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4" name="Google Shape;194;p33"/>
          <p:cNvSpPr txBox="1"/>
          <p:nvPr/>
        </p:nvSpPr>
        <p:spPr>
          <a:xfrm>
            <a:off x="5991600" y="3793513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📄View JSON Workflow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5" name="Google Shape;195;p33"/>
          <p:cNvSpPr txBox="1"/>
          <p:nvPr/>
        </p:nvSpPr>
        <p:spPr>
          <a:xfrm>
            <a:off x="6027525" y="422672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🖼️ </a:t>
            </a: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View Dashboard</a:t>
            </a:r>
            <a:endParaRPr b="1"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6" name="Google Shape;196;p33"/>
          <p:cNvSpPr txBox="1"/>
          <p:nvPr/>
        </p:nvSpPr>
        <p:spPr>
          <a:xfrm>
            <a:off x="5687000" y="1274525"/>
            <a:ext cx="3000000" cy="2280300"/>
          </a:xfrm>
          <a:prstGeom prst="rect">
            <a:avLst/>
          </a:prstGeom>
          <a:solidFill>
            <a:srgbClr val="E5E0FA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💡 Improvements / Expansion Opportunities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Publish to Google Sheets or Looker on a scheduled refresh, keep run history for trend-over-time charts, and alert the team when a competitor price or launch crosses a threshold.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97" name="Google Shape;197;p33"/>
          <p:cNvCxnSpPr/>
          <p:nvPr/>
        </p:nvCxnSpPr>
        <p:spPr>
          <a:xfrm>
            <a:off x="5426200" y="1274525"/>
            <a:ext cx="23100" cy="3559800"/>
          </a:xfrm>
          <a:prstGeom prst="straightConnector1">
            <a:avLst/>
          </a:prstGeom>
          <a:noFill/>
          <a:ln cap="flat" cmpd="sng" w="9525">
            <a:solidFill>
              <a:srgbClr val="575757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/>
          <p:nvPr>
            <p:ph idx="4294967295" type="title"/>
          </p:nvPr>
        </p:nvSpPr>
        <p:spPr>
          <a:xfrm>
            <a:off x="540300" y="445025"/>
            <a:ext cx="7204500" cy="3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7A657"/>
                </a:solidFill>
              </a:rPr>
              <a:t>Reflections &amp; Future Improvements</a:t>
            </a:r>
            <a:endParaRPr>
              <a:solidFill>
                <a:srgbClr val="07A657"/>
              </a:solidFill>
            </a:endParaRPr>
          </a:p>
        </p:txBody>
      </p:sp>
      <p:sp>
        <p:nvSpPr>
          <p:cNvPr id="203" name="Google Shape;203;p34"/>
          <p:cNvSpPr txBox="1"/>
          <p:nvPr/>
        </p:nvSpPr>
        <p:spPr>
          <a:xfrm>
            <a:off x="464101" y="844325"/>
            <a:ext cx="7660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What I Learned and How I Can Make It Better</a:t>
            </a:r>
            <a:endParaRPr i="1"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4" name="Google Shape;204;p34"/>
          <p:cNvSpPr txBox="1"/>
          <p:nvPr/>
        </p:nvSpPr>
        <p:spPr>
          <a:xfrm>
            <a:off x="539099" y="1453163"/>
            <a:ext cx="3976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Inter"/>
                <a:ea typeface="Inter"/>
                <a:cs typeface="Inter"/>
                <a:sym typeface="Inter"/>
              </a:rPr>
              <a:t>🧭 Key Learnings</a:t>
            </a:r>
            <a:endParaRPr b="1"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5" name="Google Shape;205;p34"/>
          <p:cNvSpPr txBox="1"/>
          <p:nvPr/>
        </p:nvSpPr>
        <p:spPr>
          <a:xfrm>
            <a:off x="539100" y="1842725"/>
            <a:ext cx="3813000" cy="26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84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Char char="●"/>
            </a:pPr>
            <a:r>
              <a:rPr lang="en" sz="1100">
                <a:latin typeface="Inter"/>
                <a:ea typeface="Inter"/>
                <a:cs typeface="Inter"/>
                <a:sym typeface="Inter"/>
              </a:rPr>
              <a:t>“ I learned that trust is the hardest part of AI agents: catching invented statistics and silent failures mattered more than adding features. ”</a:t>
            </a: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Char char="●"/>
            </a:pPr>
            <a:r>
              <a:rPr lang="en" sz="1100">
                <a:latin typeface="Inter"/>
                <a:ea typeface="Inter"/>
                <a:cs typeface="Inter"/>
                <a:sym typeface="Inter"/>
              </a:rPr>
              <a:t>“ I saw how decisions on price, assortment and launches need evidence the category team can trace back to the data. ”</a:t>
            </a: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Char char="●"/>
            </a:pPr>
            <a:r>
              <a:rPr lang="en" sz="1100">
                <a:latin typeface="Inter"/>
                <a:ea typeface="Inter"/>
                <a:cs typeface="Inter"/>
                <a:sym typeface="Inter"/>
              </a:rPr>
              <a:t>“ I gained hands-on experience building, debugging and hardening five connected agents in n8n on free-tier models. ”</a:t>
            </a:r>
            <a:endParaRPr sz="11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6" name="Google Shape;206;p34"/>
          <p:cNvSpPr txBox="1"/>
          <p:nvPr/>
        </p:nvSpPr>
        <p:spPr>
          <a:xfrm>
            <a:off x="4900650" y="1440025"/>
            <a:ext cx="39387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Inter"/>
                <a:ea typeface="Inter"/>
                <a:cs typeface="Inter"/>
                <a:sym typeface="Inter"/>
              </a:rPr>
              <a:t>🚀 Future Improvements / Next </a:t>
            </a:r>
            <a:r>
              <a:rPr b="1" lang="en" sz="1200">
                <a:latin typeface="Inter"/>
                <a:ea typeface="Inter"/>
                <a:cs typeface="Inter"/>
                <a:sym typeface="Inter"/>
              </a:rPr>
              <a:t>Steps</a:t>
            </a:r>
            <a:endParaRPr b="1"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7" name="Google Shape;207;p34"/>
          <p:cNvSpPr txBox="1"/>
          <p:nvPr/>
        </p:nvSpPr>
        <p:spPr>
          <a:xfrm>
            <a:off x="5064451" y="1838225"/>
            <a:ext cx="3408000" cy="26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210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nter"/>
              <a:buChar char="●"/>
            </a:pPr>
            <a:r>
              <a:rPr lang="en" sz="1000">
                <a:latin typeface="Inter"/>
                <a:ea typeface="Inter"/>
                <a:cs typeface="Inter"/>
                <a:sym typeface="Inter"/>
              </a:rPr>
              <a:t>“ I plan to connect SKU sales, search and returns data so recommendations are weighted by revenue impact, not sample counts. ”</a:t>
            </a:r>
            <a:endParaRPr sz="1000"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Inter"/>
              <a:ea typeface="Inter"/>
              <a:cs typeface="Inter"/>
              <a:sym typeface="Inter"/>
            </a:endParaRPr>
          </a:p>
          <a:p>
            <a:pPr indent="-29210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nter"/>
              <a:buChar char="●"/>
            </a:pPr>
            <a:r>
              <a:rPr lang="en" sz="1000">
                <a:latin typeface="Inter"/>
                <a:ea typeface="Inter"/>
                <a:cs typeface="Inter"/>
                <a:sym typeface="Inter"/>
              </a:rPr>
              <a:t>“ I’d like to run the agents weekly and keep every run, so the dashboard shows what is rising, fading or newly launched. ”</a:t>
            </a:r>
            <a:endParaRPr sz="1000"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Inter"/>
              <a:ea typeface="Inter"/>
              <a:cs typeface="Inter"/>
              <a:sym typeface="Inter"/>
            </a:endParaRPr>
          </a:p>
          <a:p>
            <a:pPr indent="-29210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nter"/>
              <a:buChar char="●"/>
            </a:pPr>
            <a:r>
              <a:rPr lang="en" sz="1000">
                <a:latin typeface="Inter"/>
                <a:ea typeface="Inter"/>
                <a:cs typeface="Inter"/>
                <a:sym typeface="Inter"/>
              </a:rPr>
              <a:t>“ I want to add an automated fact-check that verifies every AI claim against its source before it reaches the team. ”</a:t>
            </a:r>
            <a:endParaRPr sz="1000"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08" name="Google Shape;208;p34"/>
          <p:cNvGrpSpPr/>
          <p:nvPr/>
        </p:nvGrpSpPr>
        <p:grpSpPr>
          <a:xfrm>
            <a:off x="4599604" y="1440028"/>
            <a:ext cx="217351" cy="3214326"/>
            <a:chOff x="5942914" y="1625757"/>
            <a:chExt cx="306171" cy="4749300"/>
          </a:xfrm>
        </p:grpSpPr>
        <p:cxnSp>
          <p:nvCxnSpPr>
            <p:cNvPr id="209" name="Google Shape;209;p34"/>
            <p:cNvCxnSpPr/>
            <p:nvPr/>
          </p:nvCxnSpPr>
          <p:spPr>
            <a:xfrm>
              <a:off x="6095995" y="1625757"/>
              <a:ext cx="0" cy="4749300"/>
            </a:xfrm>
            <a:prstGeom prst="straightConnector1">
              <a:avLst/>
            </a:prstGeom>
            <a:noFill/>
            <a:ln cap="rnd" cmpd="sng" w="8550">
              <a:solidFill>
                <a:srgbClr val="9A9A9A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210" name="Google Shape;210;p34"/>
            <p:cNvGrpSpPr/>
            <p:nvPr/>
          </p:nvGrpSpPr>
          <p:grpSpPr>
            <a:xfrm>
              <a:off x="5942914" y="3967299"/>
              <a:ext cx="306171" cy="306910"/>
              <a:chOff x="5937564" y="3833745"/>
              <a:chExt cx="306171" cy="306910"/>
            </a:xfrm>
          </p:grpSpPr>
          <p:sp>
            <p:nvSpPr>
              <p:cNvPr id="211" name="Google Shape;211;p34"/>
              <p:cNvSpPr/>
              <p:nvPr/>
            </p:nvSpPr>
            <p:spPr>
              <a:xfrm>
                <a:off x="5937564" y="3833745"/>
                <a:ext cx="306171" cy="306910"/>
              </a:xfrm>
              <a:custGeom>
                <a:rect b="b" l="l" r="r" t="t"/>
                <a:pathLst>
                  <a:path extrusionOk="0" h="1052" w="1052">
                    <a:moveTo>
                      <a:pt x="0" y="526"/>
                    </a:moveTo>
                    <a:cubicBezTo>
                      <a:pt x="0" y="526"/>
                      <a:pt x="0" y="526"/>
                      <a:pt x="0" y="526"/>
                    </a:cubicBezTo>
                    <a:cubicBezTo>
                      <a:pt x="0" y="236"/>
                      <a:pt x="236" y="0"/>
                      <a:pt x="526" y="0"/>
                    </a:cubicBezTo>
                    <a:cubicBezTo>
                      <a:pt x="817" y="0"/>
                      <a:pt x="1052" y="236"/>
                      <a:pt x="1052" y="526"/>
                    </a:cubicBezTo>
                    <a:cubicBezTo>
                      <a:pt x="1052" y="526"/>
                      <a:pt x="1052" y="526"/>
                      <a:pt x="1052" y="526"/>
                    </a:cubicBezTo>
                    <a:cubicBezTo>
                      <a:pt x="1052" y="817"/>
                      <a:pt x="817" y="1052"/>
                      <a:pt x="526" y="1052"/>
                    </a:cubicBezTo>
                    <a:cubicBezTo>
                      <a:pt x="526" y="1052"/>
                      <a:pt x="526" y="1052"/>
                      <a:pt x="526" y="1052"/>
                    </a:cubicBezTo>
                    <a:cubicBezTo>
                      <a:pt x="236" y="1052"/>
                      <a:pt x="0" y="817"/>
                      <a:pt x="0" y="526"/>
                    </a:cubicBezTo>
                    <a:close/>
                  </a:path>
                </a:pathLst>
              </a:custGeom>
              <a:solidFill>
                <a:srgbClr val="E71C57"/>
              </a:solidFill>
              <a:ln cap="flat" cmpd="sng" w="8550">
                <a:solidFill>
                  <a:srgbClr val="E71C5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9700" lIns="79425" spcFirstLastPara="1" rIns="79425" wrap="square" tIns="39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>
                  <a:solidFill>
                    <a:srgbClr val="6E6F73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212" name="Google Shape;212;p34"/>
              <p:cNvSpPr/>
              <p:nvPr/>
            </p:nvSpPr>
            <p:spPr>
              <a:xfrm>
                <a:off x="6053995" y="3876005"/>
                <a:ext cx="120251" cy="224730"/>
              </a:xfrm>
              <a:custGeom>
                <a:rect b="b" l="l" r="r" t="t"/>
                <a:pathLst>
                  <a:path extrusionOk="0" h="1824" w="976">
                    <a:moveTo>
                      <a:pt x="66" y="1824"/>
                    </a:moveTo>
                    <a:lnTo>
                      <a:pt x="0" y="1758"/>
                    </a:lnTo>
                    <a:lnTo>
                      <a:pt x="843" y="912"/>
                    </a:lnTo>
                    <a:lnTo>
                      <a:pt x="0" y="66"/>
                    </a:lnTo>
                    <a:lnTo>
                      <a:pt x="66" y="0"/>
                    </a:lnTo>
                    <a:lnTo>
                      <a:pt x="976" y="912"/>
                    </a:lnTo>
                    <a:lnTo>
                      <a:pt x="66" y="182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39700" lIns="79425" spcFirstLastPara="1" rIns="79425" wrap="square" tIns="39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>
                  <a:solidFill>
                    <a:srgbClr val="6E6F73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5"/>
          <p:cNvSpPr/>
          <p:nvPr/>
        </p:nvSpPr>
        <p:spPr>
          <a:xfrm>
            <a:off x="8162514" y="2370749"/>
            <a:ext cx="181800" cy="365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7275" lIns="97275" spcFirstLastPara="1" rIns="97275" wrap="square" tIns="97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9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8" name="Google Shape;218;p35"/>
          <p:cNvSpPr txBox="1"/>
          <p:nvPr>
            <p:ph idx="12" type="sldNum"/>
          </p:nvPr>
        </p:nvSpPr>
        <p:spPr>
          <a:xfrm>
            <a:off x="311709" y="4733215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9" name="Google Shape;219;p35"/>
          <p:cNvSpPr/>
          <p:nvPr/>
        </p:nvSpPr>
        <p:spPr>
          <a:xfrm>
            <a:off x="573050" y="406550"/>
            <a:ext cx="7457400" cy="4326600"/>
          </a:xfrm>
          <a:prstGeom prst="rect">
            <a:avLst/>
          </a:prstGeom>
          <a:blipFill>
            <a:blip r:embed="rIdThanks"/>
            <a:stretch>
              <a:fillRect/>
            </a:stretch>
          </a:blip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Thank You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0">
                <a:solidFill>
                  <a:srgbClr val="FFFFFF"/>
                </a:solidFill>
              </a:rPr>
              <a:t>Questions and discussion  ·  Dhruv Patel  ·  pdhruv331@gmail.com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Extern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F2F2F2"/>
      </a:lt2>
      <a:accent1>
        <a:srgbClr val="07A657"/>
      </a:accent1>
      <a:accent2>
        <a:srgbClr val="2550D0"/>
      </a:accent2>
      <a:accent3>
        <a:srgbClr val="3E1FBC"/>
      </a:accent3>
      <a:accent4>
        <a:srgbClr val="E06B00"/>
      </a:accent4>
      <a:accent5>
        <a:srgbClr val="D43300"/>
      </a:accent5>
      <a:accent6>
        <a:srgbClr val="18DD4C"/>
      </a:accent6>
      <a:hlink>
        <a:srgbClr val="2550D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