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00" r:id="rId100"/>
    <p:sldId id="301" r:id="rId101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DM Serif Text"/>
      <p:regular r:id="rId24"/>
      <p: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DMSerifTex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DMSerifTex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Relationship Id="rId100" Type="http://schemas.openxmlformats.org/officeDocument/2006/relationships/slide" Target="slides/slide10.xml"/><Relationship Id="rId101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4642279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464227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81d736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f81d736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f81d736c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f81d736c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f81d736c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f81d736c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795ecb5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f795ecb5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f795ecb5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f795ecb5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f795ecb5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f795ecb5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f81d736c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f81d736c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f81d736c5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f81d736c5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- Black background">
  <p:cSld name="TITLE_1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06400" y="1981875"/>
            <a:ext cx="8466900" cy="42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06400" y="2678850"/>
            <a:ext cx="3569700" cy="17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7" name="Google Shape;5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6400" y="391075"/>
            <a:ext cx="673598" cy="1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- White background">
  <p:cSld name="TITLE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6400" y="391075"/>
            <a:ext cx="705451" cy="1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>
            <p:ph type="title"/>
          </p:nvPr>
        </p:nvSpPr>
        <p:spPr>
          <a:xfrm>
            <a:off x="406400" y="1981875"/>
            <a:ext cx="8466900" cy="42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406400" y="2678850"/>
            <a:ext cx="3569700" cy="17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>
                <a:latin typeface="Inter"/>
                <a:ea typeface="Inter"/>
                <a:cs typeface="Inter"/>
                <a:sym typeface="Inter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/>
        </p:nvSpPr>
        <p:spPr>
          <a:xfrm>
            <a:off x="295775" y="4468650"/>
            <a:ext cx="92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2284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929550"/>
            <a:ext cx="38679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pic>
        <p:nvPicPr>
          <p:cNvPr id="67" name="Google Shape;6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Green section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ECFD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pic>
        <p:nvPicPr>
          <p:cNvPr id="73" name="Google Shape;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lue section">
  <p:cSld name="CUSTOM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DFE9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Purple section">
  <p:cSld name="CUSTOM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9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ed section">
  <p:cSld name="CUSTOM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FFEF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20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Orange section">
  <p:cSld name="CUSTOM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lack section">
  <p:cSld name="CUSTOM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/>
          <p:nvPr/>
        </p:nvSpPr>
        <p:spPr>
          <a:xfrm>
            <a:off x="0" y="0"/>
            <a:ext cx="4592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445025"/>
            <a:ext cx="3929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11700" y="929550"/>
            <a:ext cx="3929700" cy="16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8575" y="4868275"/>
            <a:ext cx="532402" cy="1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9" name="Google Shape;109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221456" y="273844"/>
            <a:ext cx="86223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F44"/>
              </a:buClr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221456" y="1012031"/>
            <a:ext cx="8622300" cy="3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591323" y="4854418"/>
            <a:ext cx="2052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Roboto"/>
              <a:buNone/>
              <a:defRPr sz="9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7" name="Google Shape;11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228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DM Serif Text"/>
              <a:buNone/>
              <a:defRPr sz="21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096350"/>
            <a:ext cx="85206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3117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Relationship Id="rIdCover" Type="http://schemas.openxmlformats.org/officeDocument/2006/relationships/image" Target="../media/cover_moodboard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Thanks" Type="http://schemas.openxmlformats.org/officeDocument/2006/relationships/image" Target="../media/thanks_moodboard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Relationship Id="rIdDash" Type="http://schemas.openxmlformats.org/officeDocument/2006/relationships/hyperlink" Target="https://n8n.builtbydhruv.com/webhook/rug-intel/dashboard" TargetMode="Externa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/>
        </p:nvSpPr>
        <p:spPr>
          <a:xfrm>
            <a:off x="208600" y="3051639"/>
            <a:ext cx="511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DM Serif Text"/>
                <a:ea typeface="DM Serif Text"/>
                <a:cs typeface="DM Serif Text"/>
                <a:sym typeface="DM Serif Text"/>
              </a:rPr>
              <a:t xml:space="preserve">Name: </a:t>
            </a:r>
            <a:r>
              <a:rPr lang="en" sz="1800" b="0">
                <a:latin typeface="DM Serif Text"/>
                <a:ea typeface="DM Serif Text"/>
                <a:cs typeface="DM Serif Text"/>
                <a:sym typeface="DM Serif Text"/>
              </a:rPr>
              <a:t>Dhruv Patel</a:t>
            </a:r>
            <a:endParaRPr sz="1800">
              <a:latin typeface="DM Serif Text"/>
              <a:ea typeface="DM Serif Text"/>
              <a:cs typeface="DM Serif Text"/>
              <a:sym typeface="DM Serif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DM Serif Text"/>
                <a:ea typeface="DM Serif Text"/>
                <a:cs typeface="DM Serif Text"/>
                <a:sym typeface="DM Serif Text"/>
              </a:rPr>
              <a:t xml:space="preserve">Role: </a:t>
            </a:r>
            <a:r>
              <a:rPr lang="en" sz="1800" b="0">
                <a:latin typeface="DM Serif Text"/>
                <a:ea typeface="DM Serif Text"/>
                <a:cs typeface="DM Serif Text"/>
                <a:sym typeface="DM Serif Text"/>
              </a:rPr>
              <a:t xml:space="preserve">AI Agent Engineering Consultant</a:t>
            </a:r>
            <a:endParaRPr sz="1800">
              <a:latin typeface="DM Serif Text"/>
              <a:ea typeface="DM Serif Text"/>
              <a:cs typeface="DM Serif Text"/>
              <a:sym typeface="DM Serif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DM Serif Text"/>
                <a:ea typeface="DM Serif Text"/>
                <a:cs typeface="DM Serif Text"/>
                <a:sym typeface="DM Serif Text"/>
              </a:rPr>
              <a:t xml:space="preserve">Email Id: </a:t>
            </a:r>
            <a:r>
              <a:rPr lang="en" sz="1800" b="0">
                <a:latin typeface="DM Serif Text"/>
                <a:ea typeface="DM Serif Text"/>
                <a:cs typeface="DM Serif Text"/>
                <a:sym typeface="DM Serif Text"/>
              </a:rPr>
              <a:t>pdhruv331@gmail.com</a:t>
            </a:r>
            <a:endParaRPr sz="1800"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5131375" y="490900"/>
            <a:ext cx="3503700" cy="4042800"/>
          </a:xfrm>
          <a:prstGeom prst="rect">
            <a:avLst/>
          </a:prstGeom>
          <a:blipFill>
            <a:blip r:embed="rIdCover"/>
            <a:stretch>
              <a:fillRect/>
            </a:stretch>
          </a:blip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27"/>
          <p:cNvSpPr txBox="1"/>
          <p:nvPr>
            <p:ph idx="4294967295" type="title"/>
          </p:nvPr>
        </p:nvSpPr>
        <p:spPr>
          <a:xfrm>
            <a:off x="208600" y="1270050"/>
            <a:ext cx="4815300" cy="14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 xml:space="preserve">Wayfair Rugs Market Intelligence: </a:t>
            </a:r>
            <a:r>
              <a:rPr lang="en" sz="3200">
                <a:solidFill>
                  <a:srgbClr val="3E1FBC"/>
                </a:solidFill>
              </a:rPr>
              <a:t>AI Agent System</a:t>
            </a:r>
            <a:endParaRPr sz="3200">
              <a:solidFill>
                <a:srgbClr val="3E1FB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Executive Summary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464101" y="844325"/>
            <a:ext cx="76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Overview of Market Intelligence Agents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540300" y="1410125"/>
            <a:ext cx="3990300" cy="3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Give Wayfair’s Rugs category team a repeatable, evidence-based way to spot emerging trends, benchmark Amazon and Walmart, and turn both into on-brand content and next actions.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🧠My Solution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Built 5 connected AI agents in n8n (moodboards, trends, competitors, content and dashboard) that feed one Market Intelligence Dashboard, running entirely on free-tier models.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⚙️ Core Outputs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buNone/>
            </a:pP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✓ Trend Discovery Agent: Sample Output Link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buNone/>
            </a:pP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✓ Competitor Monitoring Agent: Sample Output Link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buNone/>
            </a:pP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✓ AI Insights &amp; Content Agent: Sample Output Link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buNone/>
            </a:pP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✓ Integrated Dashboard: Sample Output Link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14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3" name="Google Shape;133;p28"/>
          <p:cNvCxnSpPr/>
          <p:nvPr/>
        </p:nvCxnSpPr>
        <p:spPr>
          <a:xfrm>
            <a:off x="4754775" y="12898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4" name="Google Shape;134;p28"/>
          <p:cNvSpPr txBox="1"/>
          <p:nvPr/>
        </p:nvSpPr>
        <p:spPr>
          <a:xfrm>
            <a:off x="4871400" y="1410125"/>
            <a:ext cx="39903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🔍 Key Insights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 xml:space="preserve">Price gap: </a:t>
            </a:r>
            <a:r>
              <a:rPr lang="en" sz="11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Wayfair avg. $138.99 vs. $63.64 (Amazon) and $59.27 (Walmart); the $150–$250 tier is thin.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 xml:space="preserve">Style shift: </a:t>
            </a:r>
            <a:r>
              <a:rPr lang="en" sz="11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textured, natural-fiber rugs lead; 8×10 ft in 7 of 10 sampled listings.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 xml:space="preserve">Trust edge: </a:t>
            </a:r>
            <a:r>
              <a:rPr lang="en" sz="11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4.66 avg. rating vs. 4.62 Amazon, 4.46 Walmart.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14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4871400" y="2975400"/>
            <a:ext cx="3990300" cy="18246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🧠Future Improvements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Connect Wayfair’s SKU sales and search data, run the agents weekly, and keep every run so the dashboard shows which trends and competitor prices are rising or fading.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/>
          <p:nvPr/>
        </p:nvSpPr>
        <p:spPr>
          <a:xfrm>
            <a:off x="5610600" y="36510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9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Agent 1: Moodboard Generator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42" name="Google Shape;142;p29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From Trend Micro-Segment → AI-Generated Room Moodboard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29"/>
          <p:cNvSpPr txBox="1"/>
          <p:nvPr/>
        </p:nvSpPr>
        <p:spPr>
          <a:xfrm>
            <a:off x="540300" y="1345550"/>
            <a:ext cx="49701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</a:t>
            </a: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Turn each emerging style micro-segment into a room moodboard, so merchandising and creative teams can see a trend before they brief it.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🧠Input Prompt Example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“Farmhouse rustic jute rug, warm neutrals, sunlit living room” (written automatically for each micro-segment)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Keep in Mind / Input Notes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 xml:space="preserve">Keep prompts </a:t>
            </a:r>
            <a:r>
              <a:rPr lang="en" sz="1100" b="1">
                <a:solidFill>
                  <a:schemeClr val="dk1"/>
                </a:solidFill>
              </a:rPr>
              <a:t>short and specific</a:t>
            </a:r>
            <a:r>
              <a:rPr lang="en" sz="1100">
                <a:solidFill>
                  <a:schemeClr val="dk1"/>
                </a:solidFill>
              </a:rPr>
              <a:t>: style, material, colour and room.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One image per micro-segment</a:t>
            </a:r>
            <a:r>
              <a:rPr lang="en" sz="1100">
                <a:solidFill>
                  <a:schemeClr val="dk1"/>
                </a:solidFill>
              </a:rPr>
              <a:t xml:space="preserve"> (2–3 per run) keeps the board focused.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Images are concept visuals, not Wayfair SKUs; label them as AI-generated when shared.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 xml:space="preserve">🧩 </a:t>
            </a:r>
            <a:r>
              <a:rPr lang="en" sz="1100" b="1">
                <a:solidFill>
                  <a:schemeClr val="dk1"/>
                </a:solidFill>
              </a:rPr>
              <a:t>Free-Tier Limitation:</a:t>
            </a:r>
            <a:r>
              <a:rPr lang="en" sz="1100">
                <a:solidFill>
                  <a:schemeClr val="dk1"/>
                </a:solidFill>
              </a:rPr>
              <a:t xml:space="preserve"> FLUX.1-schnell via Hugging Face’s free tier; </a:t>
            </a:r>
            <a:r>
              <a:rPr lang="en" sz="1100" b="1">
                <a:solidFill>
                  <a:schemeClr val="dk1"/>
                </a:solidFill>
              </a:rPr>
              <a:t>monthly credits cap image volume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4" name="Google Shape;144;p29" title="Project 1 - Moodboard (1).png"/>
          <p:cNvPicPr preferRelativeResize="0"/>
          <p:nvPr/>
        </p:nvPicPr>
        <p:blipFill rotWithShape="1">
          <a:blip r:embed="rId3">
            <a:alphaModFix/>
          </a:blip>
          <a:stretch/>
        </p:blipFill>
        <p:spPr>
          <a:xfrm>
            <a:off x="5458200" y="1801368"/>
            <a:ext cx="3328801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9"/>
          <p:cNvSpPr txBox="1"/>
          <p:nvPr/>
        </p:nvSpPr>
        <p:spPr>
          <a:xfrm>
            <a:off x="5610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9"/>
          <p:cNvSpPr txBox="1"/>
          <p:nvPr/>
        </p:nvSpPr>
        <p:spPr>
          <a:xfrm>
            <a:off x="5646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View Sample Moodboard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9"/>
          <p:cNvSpPr txBox="1"/>
          <p:nvPr/>
        </p:nvSpPr>
        <p:spPr>
          <a:xfrm>
            <a:off x="5570325" y="13455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Output Example: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30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Agent 2: Trend Discovery Agent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54" name="Google Shape;154;p30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a Rug Category → Trend Report with Micro-Segments and Demand Signals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30"/>
          <p:cNvSpPr txBox="1"/>
          <p:nvPr/>
        </p:nvSpPr>
        <p:spPr>
          <a:xfrm>
            <a:off x="540300" y="1345550"/>
            <a:ext cx="47139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Gather product, social, blog and market data for a rug category and surface the 2–3 style micro-segments worth acting on, with the evidence behind each.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🧠Input Prompt Example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chat message naming the category, with an optional focus line.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Sample Input Prompt: “area rugs” + “focus: jute”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Keep in Mind / Input Notes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Each run samples 10 Amazon listings, 8 Instagram posts, 5 Pinterest pins and 3 blogs, so read counts such as “7 of 10 listings” as directional signals, not market share. About 10 minutes per run.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30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View Sample Output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30"/>
          <p:cNvSpPr txBox="1"/>
          <p:nvPr/>
        </p:nvSpPr>
        <p:spPr>
          <a:xfrm>
            <a:off x="5687000" y="1274525"/>
            <a:ext cx="3000000" cy="22395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💡 Improvements / Expansion Opportunities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Wayfair’s catalog, search and sales data; widen the sample to hundreds of listings; run weekly and keep history so segments can be tracked as rising, stable or fading.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9" name="Google Shape;159;p30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31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Agent 3: Competitor Monitoring Agent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66" name="Google Shape;166;p31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a Rug Category → Wayfair vs. Amazon vs. Walmart Benchmark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540300" y="1345550"/>
            <a:ext cx="47139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Benchmark Wayfair against Amazon and Walmart on price, assortment, ratings and discounting, then flag whitespace, quick wins and strategic plays for the category team.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🧠Input Prompt Example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chat message naming the category; the agent pulls 10 listings per retailer.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Sample Input Prompt: “area rug”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Keep in Mind / Input Notes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Prices, ratings and counts come straight from the listings; the AI agents interpret them. Review any AI-written percentage before acting. About 4 minutes per run.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31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View Sample Output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5687000" y="1274525"/>
            <a:ext cx="3000000" cy="22395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💡 Improvements / Expansion Opportunities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Track prices daily and keep history to catch price drops and launches as they happen; add Target and Home Depot; move supplier identification to a more reliable model.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1" name="Google Shape;171;p31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2" name="Google Shape;172;p31"/>
          <p:cNvSpPr/>
          <p:nvPr/>
        </p:nvSpPr>
        <p:spPr>
          <a:xfrm>
            <a:off x="9807575" y="3496750"/>
            <a:ext cx="1500900" cy="150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32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Agent 4: AI Insights &amp; Content Agent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Trend + Competitor Reports → On-Brand, Evidence-Based Content Plan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40300" y="1345550"/>
            <a:ext cx="4713900" cy="29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Turn the trend and competitor findings into content a Wayfair marketer can use: buying-guide and blog ideas, platform-specific captions, campaigns, email subject lines and competitive angles.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🧠Input Prompt Example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Upload the two reports, then set the category, target audience and season.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Sample Input Prompt: “Area Rug · First-time renters · Fall cozy season”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Keep in Mind / Input Notes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Written in Wayfair’s voice under strict evidence rules. A built-in Quality Check lists numbers not found in the source reports, banned AI phrases and past dates; review flagged items before publishing.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32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View Sample Output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32"/>
          <p:cNvSpPr txBox="1"/>
          <p:nvPr/>
        </p:nvSpPr>
        <p:spPr>
          <a:xfrm>
            <a:off x="5687000" y="1274525"/>
            <a:ext cx="3000000" cy="22395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💡 Improvements / Expansion Opportunities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Add a second AI fact-check that verifies how each number is used, draft full emails and ad copy, and load Wayfair’s brand guidelines as reference.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4" name="Google Shape;184;p32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5" name="Google Shape;185;p32"/>
          <p:cNvSpPr/>
          <p:nvPr/>
        </p:nvSpPr>
        <p:spPr>
          <a:xfrm>
            <a:off x="9807575" y="3496750"/>
            <a:ext cx="1500900" cy="1500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33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Market Intelligence Dashboard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Bringing All Agents Together → One Decision View for Wayfair’s Rugs Team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540300" y="1345550"/>
            <a:ext cx="4713900" cy="2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Give the Rugs team one view of category health, trends, competitive position, whitespace, risks and next actions, combining the trend and competitor agents.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⚙️ How This Works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Upload the two reports → fetch the dashboard template → a code parser extracts each section (prices, segments, colours, gaps, opportunities, risks) → one downloadable HTML dashboard. No AI here, so every figure is copied exactly from the reports.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</a:t>
            </a: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Keep in Mind / Implementation Notes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Built on a 30-product sample. Empty sections say “No data” rather than inventing content. I extended the provided parser so table-based attributes and Amazon discount data are no longer dropped.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📄View JSON Workflow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🖼️ 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View Dashboard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5687000" y="1274525"/>
            <a:ext cx="3000000" cy="22803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💡 Improvements / Expansion Opportunities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Publish to Google Sheets or Looker on a scheduled refresh, keep run history for trend-over-time charts, and alert the team when a competitor price or launch crosses a threshold.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7" name="Google Shape;197;p33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Reflections &amp; Future Improvements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203" name="Google Shape;203;p34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What I Learned and How I Can Make It Better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539099" y="1453163"/>
            <a:ext cx="39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🧭 Key Learnings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539100" y="1842725"/>
            <a:ext cx="3813000" cy="26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“ I learned that trust is the hardest part of AI agents: catching invented statistics and silent failures mattered more than adding features. ”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“ I saw how decisions on price, assortment and launches need evidence the category team can trace back to the data. ”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“ I gained hands-on experience building, debugging and hardening five connected agents in n8n on free-tier models. ”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4900650" y="1440025"/>
            <a:ext cx="3938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🚀 Future Improvements / Next </a:t>
            </a:r>
            <a:r>
              <a:rPr b="1" lang="en" sz="1200">
                <a:latin typeface="Inter"/>
                <a:ea typeface="Inter"/>
                <a:cs typeface="Inter"/>
                <a:sym typeface="Inter"/>
              </a:rPr>
              <a:t>Steps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5064451" y="1838225"/>
            <a:ext cx="3408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“ I plan to connect SKU sales, search and returns data so recommendations are weighted by revenue impact, not sample counts. ”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“ I’d move Rug Intel onto Wayfair’s stack and pilot it with one category team for four weeks, measuring decisions made from it. ”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“ I want the Evidence Check to verify how each number is used, not only that it exists, and to learn from reviewers’ corrections. ”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8" name="Google Shape;208;p34"/>
          <p:cNvGrpSpPr/>
          <p:nvPr/>
        </p:nvGrpSpPr>
        <p:grpSpPr>
          <a:xfrm>
            <a:off x="4599604" y="1440028"/>
            <a:ext cx="217351" cy="3214326"/>
            <a:chOff x="5942914" y="1625757"/>
            <a:chExt cx="306171" cy="4749300"/>
          </a:xfrm>
        </p:grpSpPr>
        <p:cxnSp>
          <p:nvCxnSpPr>
            <p:cNvPr id="209" name="Google Shape;209;p34"/>
            <p:cNvCxnSpPr/>
            <p:nvPr/>
          </p:nvCxnSpPr>
          <p:spPr>
            <a:xfrm>
              <a:off x="6095995" y="1625757"/>
              <a:ext cx="0" cy="4749300"/>
            </a:xfrm>
            <a:prstGeom prst="straightConnector1">
              <a:avLst/>
            </a:prstGeom>
            <a:noFill/>
            <a:ln cap="rnd" cmpd="sng" w="8550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0" name="Google Shape;210;p34"/>
            <p:cNvGrpSpPr/>
            <p:nvPr/>
          </p:nvGrpSpPr>
          <p:grpSpPr>
            <a:xfrm>
              <a:off x="5942914" y="3967299"/>
              <a:ext cx="306171" cy="306910"/>
              <a:chOff x="5937564" y="3833745"/>
              <a:chExt cx="306171" cy="306910"/>
            </a:xfrm>
          </p:grpSpPr>
          <p:sp>
            <p:nvSpPr>
              <p:cNvPr id="211" name="Google Shape;211;p34"/>
              <p:cNvSpPr/>
              <p:nvPr/>
            </p:nvSpPr>
            <p:spPr>
              <a:xfrm>
                <a:off x="5937564" y="3833745"/>
                <a:ext cx="306171" cy="306910"/>
              </a:xfrm>
              <a:custGeom>
                <a:rect b="b" l="l" r="r" t="t"/>
                <a:pathLst>
                  <a:path extrusionOk="0" h="1052" w="1052">
                    <a:moveTo>
                      <a:pt x="0" y="526"/>
                    </a:moveTo>
                    <a:cubicBezTo>
                      <a:pt x="0" y="526"/>
                      <a:pt x="0" y="526"/>
                      <a:pt x="0" y="526"/>
                    </a:cubicBezTo>
                    <a:cubicBezTo>
                      <a:pt x="0" y="236"/>
                      <a:pt x="236" y="0"/>
                      <a:pt x="526" y="0"/>
                    </a:cubicBezTo>
                    <a:cubicBezTo>
                      <a:pt x="817" y="0"/>
                      <a:pt x="1052" y="236"/>
                      <a:pt x="1052" y="526"/>
                    </a:cubicBezTo>
                    <a:cubicBezTo>
                      <a:pt x="1052" y="526"/>
                      <a:pt x="1052" y="526"/>
                      <a:pt x="1052" y="526"/>
                    </a:cubicBezTo>
                    <a:cubicBezTo>
                      <a:pt x="1052" y="817"/>
                      <a:pt x="817" y="1052"/>
                      <a:pt x="526" y="1052"/>
                    </a:cubicBezTo>
                    <a:cubicBezTo>
                      <a:pt x="526" y="1052"/>
                      <a:pt x="526" y="1052"/>
                      <a:pt x="526" y="1052"/>
                    </a:cubicBezTo>
                    <a:cubicBezTo>
                      <a:pt x="236" y="1052"/>
                      <a:pt x="0" y="817"/>
                      <a:pt x="0" y="526"/>
                    </a:cubicBezTo>
                    <a:close/>
                  </a:path>
                </a:pathLst>
              </a:custGeom>
              <a:solidFill>
                <a:srgbClr val="E71C57"/>
              </a:solidFill>
              <a:ln cap="flat" cmpd="sng" w="8550">
                <a:solidFill>
                  <a:srgbClr val="E71C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9700" lIns="79425" spcFirstLastPara="1" rIns="79425" wrap="square" tIns="3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6E6F73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12" name="Google Shape;212;p34"/>
              <p:cNvSpPr/>
              <p:nvPr/>
            </p:nvSpPr>
            <p:spPr>
              <a:xfrm>
                <a:off x="6053995" y="3876005"/>
                <a:ext cx="120251" cy="224730"/>
              </a:xfrm>
              <a:custGeom>
                <a:rect b="b" l="l" r="r" t="t"/>
                <a:pathLst>
                  <a:path extrusionOk="0" h="1824" w="976">
                    <a:moveTo>
                      <a:pt x="66" y="1824"/>
                    </a:moveTo>
                    <a:lnTo>
                      <a:pt x="0" y="1758"/>
                    </a:lnTo>
                    <a:lnTo>
                      <a:pt x="843" y="912"/>
                    </a:lnTo>
                    <a:lnTo>
                      <a:pt x="0" y="66"/>
                    </a:lnTo>
                    <a:lnTo>
                      <a:pt x="66" y="0"/>
                    </a:lnTo>
                    <a:lnTo>
                      <a:pt x="976" y="912"/>
                    </a:lnTo>
                    <a:lnTo>
                      <a:pt x="66" y="18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700" lIns="79425" spcFirstLastPara="1" rIns="79425" wrap="square" tIns="3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6E6F73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/>
          <p:nvPr/>
        </p:nvSpPr>
        <p:spPr>
          <a:xfrm>
            <a:off x="8162514" y="2370749"/>
            <a:ext cx="181800" cy="36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7275" lIns="97275" spcFirstLastPara="1" rIns="97275" wrap="square" tIns="97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311709" y="4733215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5"/>
          <p:cNvSpPr/>
          <p:nvPr/>
        </p:nvSpPr>
        <p:spPr>
          <a:xfrm>
            <a:off x="573050" y="406550"/>
            <a:ext cx="7457400" cy="4326600"/>
          </a:xfrm>
          <a:prstGeom prst="rect">
            <a:avLst/>
          </a:prstGeom>
          <a:blipFill>
            <a:blip r:embed="rIdThanks"/>
            <a:stretch>
              <a:fillRect/>
            </a:stretch>
          </a:blip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FFFFFF"/>
                </a:solidFill>
              </a:rPr>
              <a:t>Questions and discussion  ·  Dhruv Patel  ·  pdhruv331@gmail.com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/>
          <p:nvPr/>
        </p:nvSpPr>
        <p:spPr>
          <a:xfrm>
            <a:off x="5687000" y="3637450"/>
            <a:ext cx="3000000" cy="1124400"/>
          </a:xfrm>
          <a:prstGeom prst="roundRect">
            <a:avLst>
              <a:gd fmla="val 12090" name="adj"/>
            </a:avLst>
          </a:prstGeom>
          <a:solidFill>
            <a:srgbClr val="ECF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027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33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Beyond the Brief: Rug Intel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From Five Agents → One Trusted, On-Demand Tool Any Category Team Can Use</a:t>
            </a:r>
            <a:endParaRPr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540300" y="1345550"/>
            <a:ext cx="4713900" cy="2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🎯Objective: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Make the agents trustworthy, available on demand in Slack and reusable by any category team, built on free tiers and mapped to Wayfair’s own stack.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⚙️ How This Works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Shared data tables (listings, run log, reports) → an AI Evidence Check on every output (pass / review / block) → Slack /rug-intel deep-dive, ask and status → a Monday change digest → a live dashboard. Categories come from one config table.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⚠️ What the Evidence Check Caught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 section that was only “User Safety: safe”, and averages off by up to $15 ($187.50 written vs. $202.58 actual). Only rule checks can block; the AI second opinion can only flag. The digest demo uses a labelled simulated week (fixed API prices).</a:t>
            </a:r>
            <a:endParaRPr b="1"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5991600" y="3793513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💬 Slack /rug-intel Demo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6027525" y="4226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Dash"/>
              </a:rPr>
              <a:t>📊 View Live Dashboard</a:t>
            </a:r>
            <a:endParaRPr b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5687000" y="1274525"/>
            <a:ext cx="3000000" cy="2280300"/>
          </a:xfrm>
          <a:prstGeom prst="rect">
            <a:avLst/>
          </a:prstGeom>
          <a:solidFill>
            <a:srgbClr val="E5E0FA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✅ Results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 new workflows, 2 upgraded agents, 7 shared tables; Area and Outdoor Rug live. Deep dive in 5–7 min, cited Q&amp;A answers in about 6 s, weekly digest in 13 s. A new category is one row in the config table, not a new workflow.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7" name="Google Shape;197;p33"/>
          <p:cNvCxnSpPr/>
          <p:nvPr/>
        </p:nvCxnSpPr>
        <p:spPr>
          <a:xfrm>
            <a:off x="5426200" y="1274525"/>
            <a:ext cx="23100" cy="3559800"/>
          </a:xfrm>
          <a:prstGeom prst="straightConnector1">
            <a:avLst/>
          </a:prstGeom>
          <a:noFill/>
          <a:ln cap="flat" cmpd="sng" w="9525">
            <a:solidFill>
              <a:srgbClr val="575757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4294967295" type="title"/>
          </p:nvPr>
        </p:nvSpPr>
        <p:spPr>
          <a:xfrm>
            <a:off x="540300" y="445025"/>
            <a:ext cx="72045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7A657"/>
                </a:solidFill>
              </a:rPr>
              <a:t>Production Architecture at Wayfair</a:t>
            </a:r>
            <a:endParaRPr>
              <a:solidFill>
                <a:srgbClr val="07A657"/>
              </a:solidFill>
            </a:endParaRPr>
          </a:p>
        </p:txBody>
      </p:sp>
      <p:sp>
        <p:nvSpPr>
          <p:cNvPr id="203" name="Google Shape;203;p34"/>
          <p:cNvSpPr txBox="1"/>
          <p:nvPr/>
        </p:nvSpPr>
        <p:spPr>
          <a:xfrm>
            <a:off x="464101" y="844325"/>
            <a:ext cx="76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Same design, Wayfair’s stack: what changes and what stays</a:t>
            </a:r>
            <a:endParaRPr i="1"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539099" y="1453163"/>
            <a:ext cx="397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🧪 Prototype Today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539100" y="1842725"/>
            <a:ext cx="3813000" cy="26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n8n on one server, Mistral (free tier), n8n Data Tables for listings, runs, evidence checks and reports.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Slack app in a demo workspace; dashboard and report pages served by n8n webhooks.</a:t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latin typeface="Inter"/>
                <a:ea typeface="Inter"/>
                <a:cs typeface="Inter"/>
                <a:sym typeface="Inter"/>
              </a:rPr>
              <a:t>Sample API with 30 listings per retailer; the digest demo compares against a labelled simulated week.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4900650" y="1440025"/>
            <a:ext cx="39387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Inter"/>
                <a:ea typeface="Inter"/>
                <a:cs typeface="Inter"/>
                <a:sym typeface="Inter"/>
              </a:rPr>
              <a:t>🏢 Wayfair Production</a:t>
            </a:r>
            <a:endParaRPr b="1"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5064451" y="1838225"/>
            <a:ext cx="34080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BigQuery tables on Airflow schedules; Gemini on Vertex AI behind the same Evidence Check contract.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Agents on GKE behind Google SSO; the Slack app in Wayfair’s workspace; the dashboard in Looker.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Char char="●"/>
            </a:pPr>
            <a:r>
              <a:rPr lang="en" sz="1000">
                <a:latin typeface="Inter"/>
                <a:ea typeface="Inter"/>
                <a:cs typeface="Inter"/>
                <a:sym typeface="Inter"/>
              </a:rPr>
              <a:t>Real catalog, sales and search feeds; per-team access, cost tracking, a compliance review of competitor data, and human approval before content ships.</a:t>
            </a:r>
            <a:endParaRPr sz="1000"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8" name="Google Shape;208;p34"/>
          <p:cNvGrpSpPr/>
          <p:nvPr/>
        </p:nvGrpSpPr>
        <p:grpSpPr>
          <a:xfrm>
            <a:off x="4599604" y="1440028"/>
            <a:ext cx="217351" cy="3214326"/>
            <a:chOff x="5942914" y="1625757"/>
            <a:chExt cx="306171" cy="4749300"/>
          </a:xfrm>
        </p:grpSpPr>
        <p:cxnSp>
          <p:nvCxnSpPr>
            <p:cNvPr id="209" name="Google Shape;209;p34"/>
            <p:cNvCxnSpPr/>
            <p:nvPr/>
          </p:nvCxnSpPr>
          <p:spPr>
            <a:xfrm>
              <a:off x="6095995" y="1625757"/>
              <a:ext cx="0" cy="4749300"/>
            </a:xfrm>
            <a:prstGeom prst="straightConnector1">
              <a:avLst/>
            </a:prstGeom>
            <a:noFill/>
            <a:ln cap="rnd" cmpd="sng" w="8550">
              <a:solidFill>
                <a:srgbClr val="9A9A9A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0" name="Google Shape;210;p34"/>
            <p:cNvGrpSpPr/>
            <p:nvPr/>
          </p:nvGrpSpPr>
          <p:grpSpPr>
            <a:xfrm>
              <a:off x="5942914" y="3967299"/>
              <a:ext cx="306171" cy="306910"/>
              <a:chOff x="5937564" y="3833745"/>
              <a:chExt cx="306171" cy="306910"/>
            </a:xfrm>
          </p:grpSpPr>
          <p:sp>
            <p:nvSpPr>
              <p:cNvPr id="211" name="Google Shape;211;p34"/>
              <p:cNvSpPr/>
              <p:nvPr/>
            </p:nvSpPr>
            <p:spPr>
              <a:xfrm>
                <a:off x="5937564" y="3833745"/>
                <a:ext cx="306171" cy="306910"/>
              </a:xfrm>
              <a:custGeom>
                <a:rect b="b" l="l" r="r" t="t"/>
                <a:pathLst>
                  <a:path extrusionOk="0" h="1052" w="1052">
                    <a:moveTo>
                      <a:pt x="0" y="526"/>
                    </a:moveTo>
                    <a:cubicBezTo>
                      <a:pt x="0" y="526"/>
                      <a:pt x="0" y="526"/>
                      <a:pt x="0" y="526"/>
                    </a:cubicBezTo>
                    <a:cubicBezTo>
                      <a:pt x="0" y="236"/>
                      <a:pt x="236" y="0"/>
                      <a:pt x="526" y="0"/>
                    </a:cubicBezTo>
                    <a:cubicBezTo>
                      <a:pt x="817" y="0"/>
                      <a:pt x="1052" y="236"/>
                      <a:pt x="1052" y="526"/>
                    </a:cubicBezTo>
                    <a:cubicBezTo>
                      <a:pt x="1052" y="526"/>
                      <a:pt x="1052" y="526"/>
                      <a:pt x="1052" y="526"/>
                    </a:cubicBezTo>
                    <a:cubicBezTo>
                      <a:pt x="1052" y="817"/>
                      <a:pt x="817" y="1052"/>
                      <a:pt x="526" y="1052"/>
                    </a:cubicBezTo>
                    <a:cubicBezTo>
                      <a:pt x="526" y="1052"/>
                      <a:pt x="526" y="1052"/>
                      <a:pt x="526" y="1052"/>
                    </a:cubicBezTo>
                    <a:cubicBezTo>
                      <a:pt x="236" y="1052"/>
                      <a:pt x="0" y="817"/>
                      <a:pt x="0" y="526"/>
                    </a:cubicBezTo>
                    <a:close/>
                  </a:path>
                </a:pathLst>
              </a:custGeom>
              <a:solidFill>
                <a:srgbClr val="E71C57"/>
              </a:solidFill>
              <a:ln cap="flat" cmpd="sng" w="8550">
                <a:solidFill>
                  <a:srgbClr val="E71C5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39700" lIns="79425" spcFirstLastPara="1" rIns="79425" wrap="square" tIns="3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6E6F73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212" name="Google Shape;212;p34"/>
              <p:cNvSpPr/>
              <p:nvPr/>
            </p:nvSpPr>
            <p:spPr>
              <a:xfrm>
                <a:off x="6053995" y="3876005"/>
                <a:ext cx="120251" cy="224730"/>
              </a:xfrm>
              <a:custGeom>
                <a:rect b="b" l="l" r="r" t="t"/>
                <a:pathLst>
                  <a:path extrusionOk="0" h="1824" w="976">
                    <a:moveTo>
                      <a:pt x="66" y="1824"/>
                    </a:moveTo>
                    <a:lnTo>
                      <a:pt x="0" y="1758"/>
                    </a:lnTo>
                    <a:lnTo>
                      <a:pt x="843" y="912"/>
                    </a:lnTo>
                    <a:lnTo>
                      <a:pt x="0" y="66"/>
                    </a:lnTo>
                    <a:lnTo>
                      <a:pt x="66" y="0"/>
                    </a:lnTo>
                    <a:lnTo>
                      <a:pt x="976" y="912"/>
                    </a:lnTo>
                    <a:lnTo>
                      <a:pt x="66" y="18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39700" lIns="79425" spcFirstLastPara="1" rIns="79425" wrap="square" tIns="39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rgbClr val="6E6F73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xtern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F2F2F2"/>
      </a:lt2>
      <a:accent1>
        <a:srgbClr val="07A657"/>
      </a:accent1>
      <a:accent2>
        <a:srgbClr val="2550D0"/>
      </a:accent2>
      <a:accent3>
        <a:srgbClr val="3E1FBC"/>
      </a:accent3>
      <a:accent4>
        <a:srgbClr val="E06B00"/>
      </a:accent4>
      <a:accent5>
        <a:srgbClr val="D43300"/>
      </a:accent5>
      <a:accent6>
        <a:srgbClr val="18DD4C"/>
      </a:accent6>
      <a:hlink>
        <a:srgbClr val="2550D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